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318" r:id="rId5"/>
    <p:sldId id="259" r:id="rId6"/>
    <p:sldId id="260" r:id="rId7"/>
    <p:sldId id="261" r:id="rId8"/>
    <p:sldId id="262" r:id="rId9"/>
    <p:sldId id="263" r:id="rId10"/>
    <p:sldId id="322" r:id="rId11"/>
    <p:sldId id="320" r:id="rId12"/>
    <p:sldId id="319" r:id="rId13"/>
    <p:sldId id="264" r:id="rId14"/>
    <p:sldId id="311" r:id="rId15"/>
    <p:sldId id="312" r:id="rId16"/>
    <p:sldId id="313" r:id="rId17"/>
    <p:sldId id="314" r:id="rId18"/>
    <p:sldId id="306" r:id="rId19"/>
    <p:sldId id="307" r:id="rId20"/>
    <p:sldId id="308" r:id="rId21"/>
    <p:sldId id="309" r:id="rId22"/>
    <p:sldId id="315" r:id="rId23"/>
    <p:sldId id="317" r:id="rId24"/>
    <p:sldId id="31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91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640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76488" y="640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" name="Shape 2"/>
          <p:cNvSpPr/>
          <p:nvPr/>
        </p:nvSpPr>
        <p:spPr>
          <a:xfrm>
            <a:off x="9134856" y="640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5" name="Shape 3"/>
          <p:cNvSpPr/>
          <p:nvPr/>
        </p:nvSpPr>
        <p:spPr>
          <a:xfrm>
            <a:off x="9793224" y="640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6" name="Shape 4"/>
          <p:cNvSpPr/>
          <p:nvPr/>
        </p:nvSpPr>
        <p:spPr>
          <a:xfrm>
            <a:off x="10451592" y="640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7" name="Shape 5"/>
          <p:cNvSpPr/>
          <p:nvPr/>
        </p:nvSpPr>
        <p:spPr>
          <a:xfrm>
            <a:off x="11109960" y="6400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18120" y="12984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9" name="Shape 7"/>
          <p:cNvSpPr/>
          <p:nvPr/>
        </p:nvSpPr>
        <p:spPr>
          <a:xfrm>
            <a:off x="8476488" y="12984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0" name="Shape 8"/>
          <p:cNvSpPr/>
          <p:nvPr/>
        </p:nvSpPr>
        <p:spPr>
          <a:xfrm>
            <a:off x="9134856" y="12984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9793224" y="12984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51592" y="12984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09960" y="12984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8120" y="19568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76488" y="19568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34856" y="19568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7" name="Shape 15"/>
          <p:cNvSpPr/>
          <p:nvPr/>
        </p:nvSpPr>
        <p:spPr>
          <a:xfrm>
            <a:off x="9793224" y="19568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451592" y="19568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09960" y="19568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26151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1" name="Shape 19"/>
          <p:cNvSpPr/>
          <p:nvPr/>
        </p:nvSpPr>
        <p:spPr>
          <a:xfrm>
            <a:off x="8476488" y="26151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34856" y="26151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793224" y="26151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51592" y="26151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09960" y="26151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6" name="Shape 24"/>
          <p:cNvSpPr/>
          <p:nvPr/>
        </p:nvSpPr>
        <p:spPr>
          <a:xfrm>
            <a:off x="7818120" y="3273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7" name="Shape 25"/>
          <p:cNvSpPr/>
          <p:nvPr/>
        </p:nvSpPr>
        <p:spPr>
          <a:xfrm>
            <a:off x="8476488" y="3273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134856" y="3273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9" name="Shape 27"/>
          <p:cNvSpPr/>
          <p:nvPr/>
        </p:nvSpPr>
        <p:spPr>
          <a:xfrm>
            <a:off x="9793224" y="3273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51592" y="3273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1" name="Shape 29"/>
          <p:cNvSpPr/>
          <p:nvPr/>
        </p:nvSpPr>
        <p:spPr>
          <a:xfrm>
            <a:off x="11109960" y="3273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2" name="Shape 30"/>
          <p:cNvSpPr/>
          <p:nvPr/>
        </p:nvSpPr>
        <p:spPr>
          <a:xfrm>
            <a:off x="7818120" y="39319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476488" y="39319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4" name="Shape 32"/>
          <p:cNvSpPr/>
          <p:nvPr/>
        </p:nvSpPr>
        <p:spPr>
          <a:xfrm>
            <a:off x="9134856" y="39319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5" name="Shape 33"/>
          <p:cNvSpPr/>
          <p:nvPr/>
        </p:nvSpPr>
        <p:spPr>
          <a:xfrm>
            <a:off x="9793224" y="39319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51592" y="39319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7" name="Shape 35"/>
          <p:cNvSpPr/>
          <p:nvPr/>
        </p:nvSpPr>
        <p:spPr>
          <a:xfrm>
            <a:off x="11109960" y="39319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818120" y="45902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9" name="Shape 37"/>
          <p:cNvSpPr/>
          <p:nvPr/>
        </p:nvSpPr>
        <p:spPr>
          <a:xfrm>
            <a:off x="8476488" y="45902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0" name="Shape 38"/>
          <p:cNvSpPr/>
          <p:nvPr/>
        </p:nvSpPr>
        <p:spPr>
          <a:xfrm>
            <a:off x="9134856" y="45902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1" name="Shape 39"/>
          <p:cNvSpPr/>
          <p:nvPr/>
        </p:nvSpPr>
        <p:spPr>
          <a:xfrm>
            <a:off x="9793224" y="45902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51592" y="45902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109960" y="45902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4" name="Shape 42"/>
          <p:cNvSpPr/>
          <p:nvPr/>
        </p:nvSpPr>
        <p:spPr>
          <a:xfrm>
            <a:off x="7818120" y="5248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5" name="Shape 43"/>
          <p:cNvSpPr/>
          <p:nvPr/>
        </p:nvSpPr>
        <p:spPr>
          <a:xfrm>
            <a:off x="8476488" y="5248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6" name="Shape 44"/>
          <p:cNvSpPr/>
          <p:nvPr/>
        </p:nvSpPr>
        <p:spPr>
          <a:xfrm>
            <a:off x="9134856" y="5248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7" name="Shape 45"/>
          <p:cNvSpPr/>
          <p:nvPr/>
        </p:nvSpPr>
        <p:spPr>
          <a:xfrm>
            <a:off x="9793224" y="5248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451592" y="5248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9960" y="524865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INTERNSHIP  ·  25ISE146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02920" y="187452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Timetable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Possibility &amp; Optimization Engine</a:t>
            </a:r>
            <a:endParaRPr lang="en-US" sz="4200" dirty="0"/>
          </a:p>
        </p:txBody>
      </p:sp>
      <p:sp>
        <p:nvSpPr>
          <p:cNvPr id="52" name="Text 50"/>
          <p:cNvSpPr/>
          <p:nvPr/>
        </p:nvSpPr>
        <p:spPr>
          <a:xfrm>
            <a:off x="502920" y="397764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academic scheduling into a solved constraint-satisfaction problem — conflict-free timetables generated, scored, and ranked automatically.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502920" y="4892040"/>
            <a:ext cx="201168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Anvith A Gowda   ·   Kriti P Desai   ·   Tanmayi KT   ·   Tejas Gowda M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502920" y="5440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  ·  B.N.M. Institute of Technology, Bengaluru  ·  2025–26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academic term, administrators must place a large number of subjects, faculty members, student batches, and classrooms into a fixed weekly grid — without a single double-booking, and without shortchanging any batch's required contact hours.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6309360" cy="2103120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228600" tIns="228600" rIns="228600" bIns="22860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system that, given </a:t>
            </a: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faculty, rooms, batches, and time slots</a:t>
            </a:r>
            <a:r>
              <a:rPr lang="en-US" sz="14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automatically generates one or more conflict-free timetables — enforcing hard constraints absolutely, while optimizing workload balance, idle gaps, and preferred slots as soft constraints. The result must be exportable and administrator-editable.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89520" y="178308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1F2A44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18928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89720" y="189280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constraint types to satisfy simultaneously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3264408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1F2A44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3374136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89720" y="33741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lost to manual, trial-and-error scheduling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4745736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1F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4855464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89720" y="4855464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is enough to break an entire timetable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9842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subjects, faculty, rooms, batches and time slots, plus every constraint linking them.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19842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19476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Guaranteed Feasibility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2860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constraint-satisfaction engine that guarantees a hard-constraint-free, clash-free timetable.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5844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584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5478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Optimization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8862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genetic-algorithm / heuristic scoring layer that improves soft-constraint quality — workload balance, gap minimisation.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3832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35844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584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35478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 UX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8862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intuitive interface to input institutional data and trigger generation with a single action.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9834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" y="51846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5184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51480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Alternatives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54864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multiple candidate timetables so administrators can compare and choose the best fit.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9834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4808" y="51846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5184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78040" y="51480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&amp; Resilient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54864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that scales to institution-size datasets, with robust diagnostics when no valid timetable exists.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9842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Generation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builds complete weekly timetables from institutional input data with a single click.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19842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19476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2860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groups, teachers, subjects, rooms and all linking constraints in a unified model.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5844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584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5478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Conflict-free Schedules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8862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hard constraints so no faculty, room or batch is double-booked in any slot.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3832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35844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584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35478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Alternatives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8862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ranks multiple candidate timetables scored on gaps, workload and preferences.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9834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" y="51846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5184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51480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&amp; Control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54864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CSV / print export and gives administrators full control over data and final selection.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9834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4808" y="5184648"/>
            <a:ext cx="566928" cy="5669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5184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78040" y="51480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548640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entry through CSP solving, genetic optimisation and dashboard visualisation.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Timetabling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4D"/>
                </a:solidFill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hand, often in spreadsheets — days of trial-and-error per term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62102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4D"/>
                </a:solidFill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62102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double-booked faculty, rooms or batches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22452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4D"/>
                </a:solidFill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22452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optimisation of workload or idle gaps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82803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4D"/>
                </a:solidFill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82803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single rigid schedule that is hard to revise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43153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4D"/>
                </a:solidFill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543153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poorly beyond a handful of batches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F2A4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23500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Timetable Engine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30175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30175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backtracking guarantees a clash-free schedule, seeded by graph colouring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62102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362102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optimizes soft constraints — gaps, workload, preferences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422452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03720" y="422452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several ranked, scored alternative timetables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7960" y="482803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482803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 generation from a structured web dashboard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543153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543153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diagnostics flag unsolvable constraint sets instantly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System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architecture separating data storage, constraint solving, optimisation, and user interaction — each layer developed, tested and extended independently.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185855" cy="932688"/>
          </a:xfrm>
          <a:prstGeom prst="roundRect">
            <a:avLst>
              <a:gd name="adj" fmla="val 7843"/>
            </a:avLst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768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2221992"/>
            <a:ext cx="707105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dashboard for data entry, single-click generation, and a colour-coded weekly grid view.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58688" y="30632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AD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27832"/>
            <a:ext cx="11185855" cy="932688"/>
          </a:xfrm>
          <a:prstGeom prst="roundRect">
            <a:avLst>
              <a:gd name="adj" fmla="val 7843"/>
            </a:avLst>
          </a:prstGeom>
          <a:solidFill>
            <a:srgbClr val="2C3A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558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54480" y="3319272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API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3300984"/>
            <a:ext cx="707105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receive data-entry &amp; generation requests, validate input, and dispatch jobs to the solver.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58688" y="4142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AD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306824"/>
            <a:ext cx="11185855" cy="932688"/>
          </a:xfrm>
          <a:prstGeom prst="roundRect">
            <a:avLst>
              <a:gd name="adj" fmla="val 7843"/>
            </a:avLst>
          </a:prstGeom>
          <a:solidFill>
            <a:srgbClr val="1F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34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439826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4379976"/>
            <a:ext cx="707105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Builder → Graph-Colouring Seed Generator → Genetic Algorithm Optimizer.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58688" y="522122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AD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385816"/>
            <a:ext cx="11185855" cy="932688"/>
          </a:xfrm>
          <a:prstGeom prst="roundRect">
            <a:avLst>
              <a:gd name="adj" fmla="val 7843"/>
            </a:avLst>
          </a:prstGeom>
          <a:solidFill>
            <a:srgbClr val="2C3A5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5138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54480" y="547725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0" y="5458968"/>
            <a:ext cx="707105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relational storage for master data, constraints, generated timetables and audit history (via JDBC).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System Architecture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SOLVER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&amp; Optimization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 ·  non-negotiable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323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uniqueness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706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sessions of the same faculty share a time slot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735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uniqueness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35478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sessions occupy the same room in the same slot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42816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114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uniqueness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sessions of the same batch share a time slot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084064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completeness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230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subject–batch pair receives its prescribed weekly hours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CONSTRAINTS  ·  fitness-scored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560320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4323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penalty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12280" y="2706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periods in a faculty member's daily schedule are penalised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3401568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2735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balance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12280" y="35478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 classes-per-day for each faculty is minimised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4242816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114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satisfaction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matching declared preferred slots earn a bonus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5084064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utilisation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12280" y="5230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 or over-crowded rooms receive a mild penalty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Algorithm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SOLVER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pipeline: constructive seeding first guarantees feasibility, then a genetic algorithm refines quality.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696669" cy="3200400"/>
          </a:xfrm>
          <a:prstGeom prst="roundRect">
            <a:avLst>
              <a:gd name="adj" fmla="val 4312"/>
            </a:avLst>
          </a:prstGeom>
          <a:solidFill>
            <a:srgbClr val="1F2A44"/>
          </a:solidFill>
          <a:ln/>
        </p:spPr>
      </p:sp>
      <p:sp>
        <p:nvSpPr>
          <p:cNvPr id="6" name="Shape 4"/>
          <p:cNvSpPr/>
          <p:nvPr/>
        </p:nvSpPr>
        <p:spPr>
          <a:xfrm>
            <a:off x="1095223" y="2542032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095223" y="25420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42234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3886200"/>
            <a:ext cx="136748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subjects, faculty, rooms, batches from institutional input.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9589" y="3703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F4D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00757" y="2286000"/>
            <a:ext cx="1696669" cy="3200400"/>
          </a:xfrm>
          <a:prstGeom prst="roundRect">
            <a:avLst>
              <a:gd name="adj" fmla="val 4312"/>
            </a:avLst>
          </a:prstGeom>
          <a:solidFill>
            <a:srgbClr val="2C3A5E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3060" y="2542032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2993060" y="25420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37917" y="3246120"/>
            <a:ext cx="142234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CSP Model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65349" y="3886200"/>
            <a:ext cx="136748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= subject–batch–hour units; domains = feasible (slot, room) pairs.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97426" y="3703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F4D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8594" y="2286000"/>
            <a:ext cx="1696669" cy="3200400"/>
          </a:xfrm>
          <a:prstGeom prst="roundRect">
            <a:avLst>
              <a:gd name="adj" fmla="val 4312"/>
            </a:avLst>
          </a:prstGeom>
          <a:solidFill>
            <a:srgbClr val="1F2A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0897" y="2542032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0897" y="25420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35754" y="3246120"/>
            <a:ext cx="142234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Graph-Colouring Seed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63186" y="3886200"/>
            <a:ext cx="136748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DSATUR-style greedy colouring yields a fast, conflict-free starting timetable.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95264" y="3703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F4D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6432" y="2286000"/>
            <a:ext cx="1696669" cy="3200400"/>
          </a:xfrm>
          <a:prstGeom prst="roundRect">
            <a:avLst>
              <a:gd name="adj" fmla="val 4312"/>
            </a:avLst>
          </a:prstGeom>
          <a:solidFill>
            <a:srgbClr val="2C3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6788734" y="2542032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6788734" y="25420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33592" y="3246120"/>
            <a:ext cx="142234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Algorithm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61024" y="3886200"/>
            <a:ext cx="136748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selection → constraint-preserving crossover → low-probability mutation.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93101" y="3703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F4D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94269" y="2286000"/>
            <a:ext cx="1696669" cy="3200400"/>
          </a:xfrm>
          <a:prstGeom prst="roundRect">
            <a:avLst>
              <a:gd name="adj" fmla="val 4312"/>
            </a:avLst>
          </a:prstGeom>
          <a:solidFill>
            <a:srgbClr val="1F2A44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571" y="2542032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571" y="25420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31429" y="3246120"/>
            <a:ext cx="142234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Fitness Evaluation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58861" y="3886200"/>
            <a:ext cx="136748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soft constraints; evolve until convergence or generation limit.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90938" y="37033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F4D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92106" y="2286000"/>
            <a:ext cx="1696669" cy="3200400"/>
          </a:xfrm>
          <a:prstGeom prst="roundRect">
            <a:avLst>
              <a:gd name="adj" fmla="val 4312"/>
            </a:avLst>
          </a:prstGeom>
          <a:solidFill>
            <a:srgbClr val="2C3A5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84409" y="2542032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7" name="Text 35"/>
          <p:cNvSpPr/>
          <p:nvPr/>
        </p:nvSpPr>
        <p:spPr>
          <a:xfrm>
            <a:off x="10584409" y="25420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129266" y="3246120"/>
            <a:ext cx="142234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&amp; Output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156698" y="3886200"/>
            <a:ext cx="136748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infeasibility, or return the best-scoring, clash-free timetable(s).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5–6 · Methodology &amp; Algorithm Design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+ Backend Communication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web dashboard and the Java optimization engine exchange data via JDBC and MySQL.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172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Forms collect Groups, Teachers, Subjects, Rooms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40965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sent to Java backend via REST / form posts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626864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JDBC layer inserts/updates records in MySQL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515721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Timetable results retrieved from DB and rendered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246888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587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Database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89120" y="29260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· TEACHERS · SUBJECTS · ROOMS · SETTINGS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21031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F4D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06240" y="429768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44165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Timetable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89120" y="47548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Group, Day, Period, Subject, Teacher, Room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55138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F4D"/>
                </a:solidFill>
              </a:rPr>
              <a:t>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06240" y="36850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JDBC Driver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39319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INSERT / SELECT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2148840"/>
            <a:ext cx="3367735" cy="3566160"/>
          </a:xfrm>
          <a:prstGeom prst="roundRect">
            <a:avLst>
              <a:gd name="adj" fmla="val 2715"/>
            </a:avLst>
          </a:prstGeom>
          <a:solidFill>
            <a:srgbClr val="2C3A5E"/>
          </a:solidFill>
          <a:ln/>
        </p:spPr>
      </p:sp>
      <p:sp>
        <p:nvSpPr>
          <p:cNvPr id="24" name="Text 22"/>
          <p:cNvSpPr/>
          <p:nvPr/>
        </p:nvSpPr>
        <p:spPr>
          <a:xfrm>
            <a:off x="8549640" y="2331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49640" y="2834640"/>
            <a:ext cx="2910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Optimization Engine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49640" y="3172968"/>
            <a:ext cx="2910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Genetic Algorithm (Java)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49640" y="3566160"/>
            <a:ext cx="2910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Loads entities from MySQL via JDBC ResultSets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49640" y="4096512"/>
            <a:ext cx="2910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valid solutions via constructive / CSP search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49640" y="4626864"/>
            <a:ext cx="2910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Scores on gaps, workload balance, room utilisation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49640" y="5157216"/>
            <a:ext cx="2910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Persists top-ranked timetable(s) back to MySQL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Implementation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70360-95C3-1053-FAD8-5FC24413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50F8BF-A50C-1AE1-0E72-DA4A847C0BE5}"/>
              </a:ext>
            </a:extLst>
          </p:cNvPr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38679-2120-14C6-985D-04A812DE28E8}"/>
              </a:ext>
            </a:extLst>
          </p:cNvPr>
          <p:cNvSpPr txBox="1"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A0B0C0"/>
                </a:solidFill>
                <a:latin typeface="Arial"/>
              </a:rPr>
              <a:t>02 · SYSTEM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8E534-0DB5-BCF0-C53B-6C6935E44F4A}"/>
              </a:ext>
            </a:extLst>
          </p:cNvPr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2800" b="1">
                <a:solidFill>
                  <a:srgbClr val="1F2A44"/>
                </a:solidFill>
                <a:latin typeface="Arial"/>
              </a:rPr>
              <a:t>Complete Data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74968-012C-2398-3F29-519469038310}"/>
              </a:ext>
            </a:extLst>
          </p:cNvPr>
          <p:cNvSpPr txBox="1"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556575"/>
                </a:solidFill>
                <a:latin typeface="Arial"/>
              </a:rPr>
              <a:t>End-to-end path from user input to optimized timetable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D613C4-CEA5-A7F7-3E85-825570E43585}"/>
              </a:ext>
            </a:extLst>
          </p:cNvPr>
          <p:cNvSpPr/>
          <p:nvPr/>
        </p:nvSpPr>
        <p:spPr>
          <a:xfrm>
            <a:off x="365760" y="1920240"/>
            <a:ext cx="11430000" cy="42976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7BE23-8FFB-89FD-95C2-55D123D81DC6}"/>
              </a:ext>
            </a:extLst>
          </p:cNvPr>
          <p:cNvSpPr txBox="1"/>
          <p:nvPr/>
        </p:nvSpPr>
        <p:spPr>
          <a:xfrm>
            <a:off x="548640" y="2057400"/>
            <a:ext cx="110642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"/>
              </a:spcBef>
              <a:spcAft>
                <a:spcPts val="60"/>
              </a:spcAft>
            </a:pPr>
            <a:r>
              <a:rPr sz="1200" b="1">
                <a:solidFill>
                  <a:srgbClr val="A5F3FC"/>
                </a:solidFill>
                <a:latin typeface="Arial"/>
              </a:rPr>
              <a:t>User  →  HTML / CSS / JavaScript Frontend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Consolas"/>
              </a:rPr>
              <a:t>          ↓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Arial"/>
              </a:rPr>
              <a:t>Java Application  →  JDBC  →  DAO Classes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Consolas"/>
              </a:rPr>
              <a:t>          ↓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200" b="1">
                <a:solidFill>
                  <a:srgbClr val="A5F3FC"/>
                </a:solidFill>
                <a:latin typeface="Arial"/>
              </a:rPr>
              <a:t>MySQL Database  (groups, teachers, subjects, rooms)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Consolas"/>
              </a:rPr>
              <a:t>          ↓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Arial"/>
              </a:rPr>
              <a:t>Timetable Data  written to  input.txt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Consolas"/>
              </a:rPr>
              <a:t>          ↓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200" b="1">
                <a:solidFill>
                  <a:srgbClr val="A5F3FC"/>
                </a:solidFill>
                <a:latin typeface="Arial"/>
              </a:rPr>
              <a:t>C++ Optimization Engine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Consolas"/>
              </a:rPr>
              <a:t>  • Constraint checking  • Solution generation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Consolas"/>
              </a:rPr>
              <a:t>  • Scoring  • Select best valid solution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Consolas"/>
              </a:rPr>
              <a:t>          ↓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200" b="1">
                <a:solidFill>
                  <a:srgbClr val="A5F3FC"/>
                </a:solidFill>
                <a:latin typeface="Arial"/>
              </a:rPr>
              <a:t>output.txt  →  Frontend Result Display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100">
                <a:solidFill>
                  <a:srgbClr val="E0E0E0"/>
                </a:solidFill>
                <a:latin typeface="Arial"/>
              </a:rPr>
              <a:t> 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000" b="1">
                <a:solidFill>
                  <a:srgbClr val="FBBF24"/>
                </a:solidFill>
                <a:latin typeface="Arial"/>
              </a:rPr>
              <a:t>Note: JDBC = Java ↔ MySQL only</a:t>
            </a:r>
          </a:p>
          <a:p>
            <a:pPr>
              <a:spcBef>
                <a:spcPts val="60"/>
              </a:spcBef>
              <a:spcAft>
                <a:spcPts val="60"/>
              </a:spcAft>
            </a:pPr>
            <a:r>
              <a:rPr sz="1200" b="1">
                <a:solidFill>
                  <a:srgbClr val="A5F3FC"/>
                </a:solidFill>
                <a:latin typeface="Arial"/>
              </a:rPr>
              <a:t>C++ uses file I/O (input.txt / output.txt)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D01B2-90CA-6945-4FFD-32E33AD739BC}"/>
              </a:ext>
            </a:extLst>
          </p:cNvPr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Arial"/>
              </a:rPr>
              <a:t>Chapter 4 · System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09203-3F52-F9FC-B964-7BD9B3818B28}"/>
              </a:ext>
            </a:extLst>
          </p:cNvPr>
          <p:cNvSpPr txBox="1"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Arial"/>
              </a:rPr>
              <a:t>Smart Timetable Possibility &amp; Optimization Engine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4A6392-D590-8F1E-92CC-D08B6BD12EE0}"/>
              </a:ext>
            </a:extLst>
          </p:cNvPr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F2A44"/>
                </a:solidFill>
                <a:latin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64242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JDBC &amp; Database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+ MYSQL INTEGRATION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323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Connectivity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706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connects the Java application with MySQL.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735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35478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groups, teachers, subjects and rooms.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42816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114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Connection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uses MySQL JDBC Driver to establish connection.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084064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Access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230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insert, retrieve and manage all data.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560320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4323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(HTML/CSS/JS)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12280" y="2706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3401568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2735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JDBC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12280" y="35478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4242816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114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5084064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Data / Optimization Engine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12280" y="5230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persistent and scalable data layer.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Implementation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323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Technologies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706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 and JavaScript for the interactive dashboard, forms and timetable visualisation.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735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Solver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35478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engine with JDBC; CSP constructive search and genetic-algorithm optimisation.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42816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114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IntelliJ / Eclipse for frontend and Java source files.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084064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230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modern web browser (Chrome, Edge, Firefox); MySQL server for persistence.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560320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4323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Device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12280" y="2706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or laptop capable of running Java (JDK) and a local MySQL instance.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3401568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2735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12280" y="35478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 GB RAM recommended (matches report hardware baseline).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4242816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114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keyboard and mouse for data entry and dashboard interaction.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5084064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12280" y="5230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connection optional — required only if deploying online or fetching external resources.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Implementation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532120" y="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26280" y="50292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520440" y="100584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052560" y="100584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514600" y="150876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046720" y="150876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508760" y="201168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040880" y="201168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035040" y="251460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023360" y="352044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555480" y="352044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017520" y="402336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549640" y="4023360"/>
            <a:ext cx="448056" cy="448056"/>
          </a:xfrm>
          <a:prstGeom prst="roundRect">
            <a:avLst>
              <a:gd name="adj" fmla="val 6122"/>
            </a:avLst>
          </a:prstGeom>
          <a:solidFill>
            <a:srgbClr val="2030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292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SOURCE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Implementation Highlights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algorithm, dashboard forms &amp; styling — essential excerpts only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A0B0C0"/>
                </a:solidFill>
                <a:latin typeface="Arial"/>
              </a:rPr>
              <a:t>05 ·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2800" b="1">
                <a:solidFill>
                  <a:srgbClr val="1F2A44"/>
                </a:solidFill>
                <a:latin typeface="Arial"/>
              </a:rPr>
              <a:t>Algorithm  ·  createSolution()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556575"/>
                </a:solidFill>
                <a:latin typeface="Arial"/>
              </a:rPr>
              <a:t>Core constructive search (Java / CSP engine) that builds a conflict-free timetable under hard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11430000" cy="42976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bool createSolution(Solution &amp;result)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vector&lt;Assignment&gt; assignments;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vector&lt;Subject&gt; orderedSubjects = subjects;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sort(orderedSubjects.begin(), orderedSubjects.end(),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[](const Subject &amp;a, const Subject &amp;b)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return a.count &gt; b.count;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});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for (const auto &amp;subject : orderedSubjects)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for (int k = 0; k &lt; subject.count; k++)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for (int day = 0; day &lt; workingDays; day++)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for (int period = 1; period &lt;= periodsPerDay; period++)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if (!teacherAvailable(subject.teacher, day))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    continue;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if (groupHasPeriod(assignments,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                   subject.group, day, period))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    continue;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string room =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    chooseRoom(subject, assignments, day, period);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if (room.empty())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    continue;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Assignment x{subject, room, day, period};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if (!validAssignment(x, assignments))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    continue;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assignments.push_back(x);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    goto assigned;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    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return false;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    assigned:;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if (!verifyPeriodCounts(assignments))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    return false;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result = evaluate(assignments);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return true;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Arial"/>
              </a:rPr>
              <a:t>Chapter 5–8 ·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Arial"/>
              </a:rPr>
              <a:t>Smart Timetable Possibility &amp; Optimization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F2A4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A0B0C0"/>
                </a:solidFill>
                <a:latin typeface="Arial"/>
              </a:rPr>
              <a:t>05 ·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2800" b="1">
                <a:solidFill>
                  <a:srgbClr val="1F2A44"/>
                </a:solidFill>
                <a:latin typeface="Arial"/>
              </a:rPr>
              <a:t>HTML  ·  Generate &amp; Results 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556575"/>
                </a:solidFill>
                <a:latin typeface="Arial"/>
              </a:rPr>
              <a:t>Generate &amp; Results sections used by the administrator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11430000" cy="42976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&lt;section id="generate" class="section hidden"&gt;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&lt;h2&gt;Generate Timetable&lt;/h2&gt;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&lt;p&gt;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  Enter the required groups, teachers, subjects and rooms.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  The system checks the constraints and generates an optimized timetable.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&lt;/p&gt;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&lt;button type="button" onclick="generateTimetable()"&gt;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  Generate Timetable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&lt;/button&gt;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&lt;p id="searchProcess"&gt;&lt;/p&gt;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&lt;/section&gt;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&lt;section id="results" class="section hidden"&gt;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&lt;h2&gt;Generated Timetable&lt;/h2&gt;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&lt;div id="timetableOutput"&gt;&lt;/div&gt;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&lt;div class="results-actions"&gt;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  &lt;button type="button" onclick="exportCSV()"&gt;Export CSV&lt;/button&gt;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  &lt;button type="button" onclick="printTimetable()"&gt;Print Timetable&lt;/button&gt;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&lt;/div&gt;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&lt;h2&gt;Optimization Summary&lt;/h2&gt;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&lt;div id="optimizationSummary"&gt;&lt;/div&gt;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&lt;div id="scoreBreakdown"&gt;&lt;/div&gt;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&lt;h2&gt;Teacher Workload&lt;/h2&gt;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&lt;div id="teacherWorkload"&gt;&lt;/div&gt;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&lt;h2&gt;Room Utilization&lt;/h2&gt;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  &lt;div id="roomUtilization"&gt;&lt;/div&gt;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00">
                <a:solidFill>
                  <a:srgbClr val="E0E0E0"/>
                </a:solidFill>
                <a:latin typeface="Consolas"/>
              </a:rPr>
              <a:t>&lt;/section&gt;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Arial"/>
              </a:rPr>
              <a:t>Chapter 5–8 ·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Arial"/>
              </a:rPr>
              <a:t>Smart Timetable Possibility &amp; Optimization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F2A4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A0B0C0"/>
                </a:solidFill>
                <a:latin typeface="Arial"/>
              </a:rPr>
              <a:t>05 ·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2800" b="1">
                <a:solidFill>
                  <a:srgbClr val="1F2A44"/>
                </a:solidFill>
                <a:latin typeface="Arial"/>
              </a:rPr>
              <a:t>Professional Timetable Grid Styles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556575"/>
                </a:solidFill>
                <a:latin typeface="Arial"/>
              </a:rPr>
              <a:t>Colour-coded weekly grid, class cards, badges and free-period styling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11430000" cy="42976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.professional-timetable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width: 100%;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border-collapse: collapse;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background: white;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.professional-timetable th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background: #344b77;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color: white;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padding: 15px;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text-align: center;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.timetable-cell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height: 105px;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padding: 7px;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text-align: center;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border: 1px solid #d9dee7;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.class-card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min-height: 85px;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display: flex;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flex-direction: column;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justify-content: center;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align-items: center;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padding: 8px;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border-radius: 8px;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background: #f4f7fc;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.subject-name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font-size: 15px;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font-weight: bold;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color: #1f2a44;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.teacher-name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font-size: 12px;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color: #4b5563;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margin: 6px;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.room-badge,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.group-badge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font-size: 10px;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padding: 4px 7px;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border-radius: 4px;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.free-cell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background: #fafafa;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endParaRPr sz="85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.free-period {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color: #a0a7b2;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font-size: 12px;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    font-weight: 600;</a:t>
            </a:r>
          </a:p>
          <a:p>
            <a:pPr>
              <a:spcBef>
                <a:spcPts val="40"/>
              </a:spcBef>
              <a:spcAft>
                <a:spcPts val="40"/>
              </a:spcAft>
            </a:pPr>
            <a:r>
              <a:rPr sz="8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Arial"/>
              </a:rPr>
              <a:t>Chapter 5–8 ·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Arial"/>
              </a:rPr>
              <a:t>Smart Timetable Possibility &amp; Optimization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F2A4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A0B0C0"/>
                </a:solidFill>
                <a:latin typeface="Arial"/>
              </a:rPr>
              <a:t>05 ·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2800" b="1">
                <a:solidFill>
                  <a:srgbClr val="1F2A44"/>
                </a:solidFill>
                <a:latin typeface="Arial"/>
              </a:rPr>
              <a:t>JavaScript  ·  generateTimetable()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400">
                <a:solidFill>
                  <a:srgbClr val="556575"/>
                </a:solidFill>
                <a:latin typeface="Arial"/>
              </a:rPr>
              <a:t>Client-side constraint checking, slot assignment and optimisation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11430000" cy="42976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function generateTimetable() {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if (!validateInput()) return;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const days = Number(document.getElementById("workingDays").value);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const periods = Number(document.getElementById("periodsPerDay").value);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generatedTimetable = [];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let usedTeacherSlots = new Set();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let usedGroupSlots = new Set();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let usedRoomSlots = new Set();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subjects.forEach(subject =&gt; {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for (let i = 0; i &lt; subject.periods; i++) {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for (let day = 0; day &lt; days; day++) {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for (let period = 1; period &lt;= periods; period++) {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const teacherKey = `${subject.teacher}_${day}_${period}`;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const groupKey = `${subject.group}_${day}_${period}`;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if (usedTeacherSlots.has(teacherKey) ||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usedGroupSlots.has(groupKey)) continue;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const room = rooms.find(r =&gt;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!usedRoomSlots.has(`${r.name}_${day}_${period}`) &amp;&amp;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r.capacity &gt;= getGroupSize(subject.group) &amp;&amp;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r.type.toLowerCase() === subject.roomType.toLowerCase()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if (!room) continue;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generatedTimetable.push({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subject: subject.name,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teacher: subject.teacher,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group: subject.group,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room: room.name,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day: getDayName(day),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    period: period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});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usedTeacherSlots.add(teacherKey);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usedGroupSlots.add(groupKey);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usedRoomSlots.add(`${room.name}_${day}_${period}`);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break;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}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if (generatedTimetable.length &gt;= subjects.reduce(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        (sum, s) =&gt; sum + s.periods, 0)) break;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    }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    }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});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endParaRPr sz="70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displayTimetable();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calculateOptimization();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    showSection("results");</a:t>
            </a:r>
          </a:p>
          <a:p>
            <a:pPr>
              <a:spcBef>
                <a:spcPts val="30"/>
              </a:spcBef>
              <a:spcAft>
                <a:spcPts val="30"/>
              </a:spcAft>
            </a:pPr>
            <a:r>
              <a:rPr sz="7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Arial"/>
              </a:rPr>
              <a:t>Chapter 5–8 ·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Arial"/>
              </a:rPr>
              <a:t>Smart Timetable Possibility &amp; Optimization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F2A4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Data Entry &amp;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45738" cy="4160520"/>
          </a:xfrm>
          <a:prstGeom prst="roundRect">
            <a:avLst>
              <a:gd name="adj" fmla="val 2063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pic>
        <p:nvPicPr>
          <p:cNvPr id="5" name="Image 0" descr="/home/claude/images/shot_dashboard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828800"/>
            <a:ext cx="3271418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394960"/>
            <a:ext cx="327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22978" y="1691640"/>
            <a:ext cx="3545738" cy="4160520"/>
          </a:xfrm>
          <a:prstGeom prst="roundRect">
            <a:avLst>
              <a:gd name="adj" fmla="val 2063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pic>
        <p:nvPicPr>
          <p:cNvPr id="8" name="Image 1" descr="/home/claude/images/shot_students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60138" y="1828800"/>
            <a:ext cx="3271418" cy="3520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60138" y="5394960"/>
            <a:ext cx="327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Group Management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143037" y="1691640"/>
            <a:ext cx="3545738" cy="4160520"/>
          </a:xfrm>
          <a:prstGeom prst="roundRect">
            <a:avLst>
              <a:gd name="adj" fmla="val 2063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pic>
        <p:nvPicPr>
          <p:cNvPr id="11" name="Image 2" descr="/home/claude/images/shot_constraints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80197" y="1828800"/>
            <a:ext cx="3271418" cy="35204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80197" y="5394960"/>
            <a:ext cx="327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Configuration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Results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Generated Timetable &amp; Optimization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pic>
        <p:nvPicPr>
          <p:cNvPr id="5" name="Image 0" descr="/home/claude/images/shot_timetable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828800"/>
            <a:ext cx="640080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394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Grid — Conflict-free, Colour-coded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52360" y="1691640"/>
            <a:ext cx="4236415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pic>
        <p:nvPicPr>
          <p:cNvPr id="8" name="Image 1" descr="/home/claude/images/shot_results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89520" y="1828800"/>
            <a:ext cx="3962095" cy="3520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89520" y="539496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Stats &amp; Workload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Results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Testing Showed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2C3A5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 — zero double-bookings across every test run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965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2C3A5E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2148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Seconds→Min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47872" y="29718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seed in seconds; near-optimal solution within minutes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7064" y="1965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2C3A5E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2148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9944" y="29718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alternative timetables reviewed per generation run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89136" y="1965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2C3A5E"/>
          </a:solidFill>
          <a:ln/>
        </p:spPr>
      </p:sp>
      <p:sp>
        <p:nvSpPr>
          <p:cNvPr id="14" name="Text 12"/>
          <p:cNvSpPr/>
          <p:nvPr/>
        </p:nvSpPr>
        <p:spPr>
          <a:xfrm>
            <a:off x="9272016" y="2148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/ Excel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72016" y="29718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 supported straight from the dashboard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4348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successive GA generations, fitness improved steadily — idle faculty gaps shrank and daily workload spread more evenly than the initial graph-coloured seed.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52628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constraint satisfaction, combined with evolutionary optimisation, automates a complex recurring administrative task. Modelling timetabling as a CSP with a multi-objective fitness layer reliably produces fully conflict-free schedules while improving gap minimisation and workload balance. The graph-colouring seed + genetic algorithm pipeline delivers high-quality results within practical time limits, and a web dashboard with clear feasibility diagnostics makes it usable by non-technical staff.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97880" y="1691640"/>
            <a:ext cx="5790895" cy="4206240"/>
          </a:xfrm>
          <a:prstGeom prst="roundRect">
            <a:avLst>
              <a:gd name="adj" fmla="val 2174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920240"/>
            <a:ext cx="5242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2240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Rescheduling  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Re-optimise only the affected slice on sudden faculty leave or room loss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72200" y="28209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820924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 Scheduling  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 &amp; travel-time constraints across departments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34015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401568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/ CBCS Support  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clash detection across heterogeneous student groups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72200" y="398221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982212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Preference Learning  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that learn preferences over successive semesters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72200" y="456285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562856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LMS Integration  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sync with student-information &amp; attendance systems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51435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5143500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Multi-objective  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Pareto front of trade-off timetables instead of a weighted sum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10–11 · Future Scope &amp; Conclusion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 &amp; DOCUMENTATION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52628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span classic CSP / GA timetabling surveys plus official language and web documentation used in implementation (Java, JDBC, MySQL, HTML5, CSS3, JavaScript).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97880" y="1691640"/>
            <a:ext cx="5790895" cy="4206240"/>
          </a:xfrm>
          <a:prstGeom prst="roundRect">
            <a:avLst>
              <a:gd name="adj" fmla="val 2174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920240"/>
            <a:ext cx="5242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2240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JDBC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JDBC &amp; MySQL Connector/J documentation for database connectivity.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72200" y="28209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820924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and Fetch API documentation (Mozilla Developer Network).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34015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401568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Burke &amp; Petrovic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research directions in automated timetabling. EJOR, 2002.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72200" y="398221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982212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Schaerf / Lewis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of automated &amp; metaheuristic university/school timetabling (AI Review, OR Spectrum).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72200" y="456285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562856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Pillay / MirHassani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&amp; course timetabling solution approaches (Annals of OR, AI Review).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51435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5143500"/>
            <a:ext cx="496793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Bettinelli et al.  </a:t>
            </a:r>
            <a:r>
              <a:rPr lang="en-US" sz="1050" dirty="0">
                <a:solidFill>
                  <a:srgbClr val="A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curriculum-based course timetabling. TOP, 2015.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References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SDG MAPPING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Development Goals Alignment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·  SDG 4 Quality Education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323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— Quality Education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706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better academic planning by generating organised, conflict-free timetables that maximise instructional contact hours.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735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— Industry, Innovation &amp; Infrastructure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35478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automation, CSP modelling and evolutionary optimisation to a traditionally manual administrative process.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42816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114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— Responsible Consumption &amp; Production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efficient utilisation of classrooms, faculty time and other academic resources, reducing idle capacity.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084064"/>
            <a:ext cx="128016" cy="128016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Summary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230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alignment is with SDG 4; secondary contributions to innovation (SDG 9) and resource efficiency (SDG 12).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6F9"/>
          </a:solidFill>
          <a:ln w="12700">
            <a:solidFill>
              <a:srgbClr val="D7DE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CONTRIBUTES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560320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4323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Conflict-free schedules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12280" y="2706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double-bookings so every batch receives full prescribed contact hours.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3401568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2735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balance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12280" y="35478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reduces variance in faculty daily load, supporting staff wellbeing.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4242816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114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efficiency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122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utilisation scoring discourages under- and over-crowding of classrooms.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5084064"/>
            <a:ext cx="128016" cy="128016"/>
          </a:xfrm>
          <a:prstGeom prst="roundRect">
            <a:avLst/>
          </a:prstGeom>
          <a:solidFill>
            <a:srgbClr val="FF6F4D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automation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12280" y="52303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Single-click generation replaces days of manual trial-and-error scheduling.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· SDG Mapping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45175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Possibility &amp; Optimization Engine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0589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548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" name="Shape 2"/>
          <p:cNvSpPr/>
          <p:nvPr/>
        </p:nvSpPr>
        <p:spPr>
          <a:xfrm>
            <a:off x="1682496" y="548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5" name="Shape 3"/>
          <p:cNvSpPr/>
          <p:nvPr/>
        </p:nvSpPr>
        <p:spPr>
          <a:xfrm>
            <a:off x="2340864" y="548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6" name="Shape 4"/>
          <p:cNvSpPr/>
          <p:nvPr/>
        </p:nvSpPr>
        <p:spPr>
          <a:xfrm>
            <a:off x="2999232" y="548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0700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20700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9" name="Shape 7"/>
          <p:cNvSpPr/>
          <p:nvPr/>
        </p:nvSpPr>
        <p:spPr>
          <a:xfrm>
            <a:off x="1682496" y="120700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0" name="Shape 8"/>
          <p:cNvSpPr/>
          <p:nvPr/>
        </p:nvSpPr>
        <p:spPr>
          <a:xfrm>
            <a:off x="2340864" y="120700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2999232" y="120700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8653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" y="18653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682496" y="18653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2340864" y="18653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99232" y="186537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52374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" y="252374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19" name="Shape 17"/>
          <p:cNvSpPr/>
          <p:nvPr/>
        </p:nvSpPr>
        <p:spPr>
          <a:xfrm>
            <a:off x="1682496" y="252374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40864" y="252374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1" name="Shape 19"/>
          <p:cNvSpPr/>
          <p:nvPr/>
        </p:nvSpPr>
        <p:spPr>
          <a:xfrm>
            <a:off x="2999232" y="252374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1821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4128" y="31821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682496" y="31821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0864" y="31821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6" name="Shape 24"/>
          <p:cNvSpPr/>
          <p:nvPr/>
        </p:nvSpPr>
        <p:spPr>
          <a:xfrm>
            <a:off x="2999232" y="318211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840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24128" y="3840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29" name="Shape 27"/>
          <p:cNvSpPr/>
          <p:nvPr/>
        </p:nvSpPr>
        <p:spPr>
          <a:xfrm>
            <a:off x="1682496" y="3840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0" name="Shape 28"/>
          <p:cNvSpPr/>
          <p:nvPr/>
        </p:nvSpPr>
        <p:spPr>
          <a:xfrm>
            <a:off x="2340864" y="3840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1" name="Shape 29"/>
          <p:cNvSpPr/>
          <p:nvPr/>
        </p:nvSpPr>
        <p:spPr>
          <a:xfrm>
            <a:off x="2999232" y="3840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44988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4128" y="44988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4" name="Shape 32"/>
          <p:cNvSpPr/>
          <p:nvPr/>
        </p:nvSpPr>
        <p:spPr>
          <a:xfrm>
            <a:off x="1682496" y="44988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5" name="Shape 33"/>
          <p:cNvSpPr/>
          <p:nvPr/>
        </p:nvSpPr>
        <p:spPr>
          <a:xfrm>
            <a:off x="2340864" y="44988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6" name="Shape 34"/>
          <p:cNvSpPr/>
          <p:nvPr/>
        </p:nvSpPr>
        <p:spPr>
          <a:xfrm>
            <a:off x="2999232" y="44988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" y="51572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24128" y="51572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39" name="Shape 37"/>
          <p:cNvSpPr/>
          <p:nvPr/>
        </p:nvSpPr>
        <p:spPr>
          <a:xfrm>
            <a:off x="1682496" y="51572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0" name="Shape 38"/>
          <p:cNvSpPr/>
          <p:nvPr/>
        </p:nvSpPr>
        <p:spPr>
          <a:xfrm>
            <a:off x="2340864" y="51572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C4B6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999232" y="51572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7314F"/>
          </a:solidFill>
          <a:ln/>
        </p:spPr>
      </p:sp>
      <p:sp>
        <p:nvSpPr>
          <p:cNvPr id="42" name="Text 40"/>
          <p:cNvSpPr/>
          <p:nvPr/>
        </p:nvSpPr>
        <p:spPr>
          <a:xfrm>
            <a:off x="4206240" y="24688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4206240" y="3337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4206240" y="3977640"/>
            <a:ext cx="201168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4160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Anvith A Gowda   ·   Kriti P Desai   ·   Tanmayi KT   ·   Tejas Gowda M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206240" y="45262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  ·  B.N.M. Institute of Technology, Bengaluru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3353</Words>
  <Application>Microsoft Office PowerPoint</Application>
  <PresentationFormat>Widescreen</PresentationFormat>
  <Paragraphs>600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tanmayikt tanmayikt</cp:lastModifiedBy>
  <cp:revision>2</cp:revision>
  <dcterms:created xsi:type="dcterms:W3CDTF">2026-08-16T11:03:14Z</dcterms:created>
  <dcterms:modified xsi:type="dcterms:W3CDTF">2026-08-18T15:52:38Z</dcterms:modified>
</cp:coreProperties>
</file>